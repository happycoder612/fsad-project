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2" r:id="rId15"/>
    <p:sldId id="271" r:id="rId16"/>
    <p:sldId id="273" r:id="rId17"/>
    <p:sldId id="270" r:id="rId18"/>
    <p:sldId id="265" r:id="rId19"/>
  </p:sldIdLst>
  <p:sldSz cx="18288000" cy="10287000"/>
  <p:notesSz cx="6858000" cy="9144000"/>
  <p:embeddedFontLst>
    <p:embeddedFont>
      <p:font typeface="Bookman Old Style" panose="02050604050505020204" pitchFamily="18" charset="0"/>
      <p:regular r:id="rId20"/>
      <p:bold r:id="rId21"/>
      <p:italic r:id="rId22"/>
      <p:boldItalic r:id="rId23"/>
    </p:embeddedFont>
    <p:embeddedFont>
      <p:font typeface="Cambria" panose="02040503050406030204" pitchFamily="18" charset="0"/>
      <p:regular r:id="rId24"/>
      <p:bold r:id="rId25"/>
      <p:italic r:id="rId26"/>
      <p:boldItalic r:id="rId27"/>
    </p:embeddedFont>
    <p:embeddedFont>
      <p:font typeface="Gotham" panose="020B0604020202020204" charset="0"/>
      <p:regular r:id="rId28"/>
    </p:embeddedFont>
    <p:embeddedFont>
      <p:font typeface="Gotham Bold Italics" panose="020B0604020202020204" charset="0"/>
      <p:regular r:id="rId29"/>
    </p:embeddedFont>
    <p:embeddedFont>
      <p:font typeface="Segoe UI Symbol" panose="020B0502040204020203" pitchFamily="34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1814" y="6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772" y="16492"/>
            <a:ext cx="4131816" cy="178462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SEMESTER PROJECT REVIEW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06-05-2026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PORTAL MANAGEMENT SYSTEM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774130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  <a:endParaRPr lang="en-IN" sz="3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/>
                <a:cs typeface="Cambria"/>
              </a:rPr>
              <a:t>A. Mohamed Ghouse Zuhair - VTU24667 - 23UECS0365</a:t>
            </a:r>
          </a:p>
          <a:p>
            <a:pPr>
              <a:lnSpc>
                <a:spcPct val="150000"/>
              </a:lnSpc>
            </a:pPr>
            <a:endParaRPr lang="en-US" sz="3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2776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lang="en-IN" sz="3000" spc="-10" dirty="0">
                <a:latin typeface="Cambria"/>
                <a:cs typeface="Cambria"/>
              </a:rPr>
              <a:t>Dr.S.Hemamalini.,M.E.,</a:t>
            </a:r>
            <a:r>
              <a:rPr lang="en-IN" sz="3000" spc="-10" dirty="0" err="1">
                <a:latin typeface="Cambria"/>
                <a:cs typeface="Cambria"/>
              </a:rPr>
              <a:t>Ph.D</a:t>
            </a:r>
            <a:endParaRPr lang="en-IN" sz="3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lang="en-IN" sz="3000" dirty="0">
                <a:latin typeface="Cambria"/>
                <a:cs typeface="Cambria"/>
              </a:rPr>
              <a:t>Assistant</a:t>
            </a:r>
            <a:r>
              <a:rPr lang="en-IN" sz="3000" spc="-105" dirty="0">
                <a:latin typeface="Cambria"/>
                <a:cs typeface="Cambria"/>
              </a:rPr>
              <a:t> </a:t>
            </a:r>
            <a:r>
              <a:rPr lang="en-IN" sz="3000" dirty="0">
                <a:latin typeface="Cambria"/>
                <a:cs typeface="Cambria"/>
              </a:rPr>
              <a:t>Professor(Senior</a:t>
            </a:r>
            <a:r>
              <a:rPr lang="en-IN" sz="3000" spc="-105" dirty="0">
                <a:latin typeface="Cambria"/>
                <a:cs typeface="Cambria"/>
              </a:rPr>
              <a:t> </a:t>
            </a:r>
            <a:r>
              <a:rPr lang="en-IN" sz="3000" spc="-10" dirty="0">
                <a:latin typeface="Cambria"/>
                <a:cs typeface="Cambria"/>
              </a:rPr>
              <a:t>Grade)</a:t>
            </a:r>
            <a:endParaRPr lang="en-IN" sz="3000" dirty="0">
              <a:latin typeface="Cambria"/>
              <a:cs typeface="Cambria"/>
            </a:endParaRPr>
          </a:p>
          <a:p>
            <a:pPr>
              <a:lnSpc>
                <a:spcPct val="150000"/>
              </a:lnSpc>
            </a:pPr>
            <a:endParaRPr lang="en-US" sz="3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 No </a:t>
            </a:r>
            <a:r>
              <a:rPr lang="en-US" sz="2000" b="1" dirty="0">
                <a:latin typeface="Cambria"/>
                <a:cs typeface="Cambria"/>
              </a:rPr>
              <a:t>–</a:t>
            </a:r>
            <a:r>
              <a:rPr lang="en-US" sz="2000" b="1" spc="-5" dirty="0">
                <a:latin typeface="Cambria"/>
                <a:cs typeface="Cambria"/>
              </a:rPr>
              <a:t> 9(</a:t>
            </a:r>
            <a:r>
              <a:rPr lang="en-US" sz="2000" b="1" dirty="0"/>
              <a:t>Industry, Innovation and Infrastructure)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584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1882235" y="1247511"/>
            <a:ext cx="15082325" cy="9140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Job Portal Management System is a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application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managing recruitment processes.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platform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job seekers and employers.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jobs, apply online, and track application status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Employers can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jobs, manage listings, and view applicants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effort and time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hiring process.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technologies like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Boot,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MySQL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 and role-based access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(Student, Employer, Admin).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between candidates and recruiters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and efficient interface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Aims to make the recruitment process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simple, fast, and reliable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6" name="Group 37">
            <a:extLst>
              <a:ext uri="{FF2B5EF4-FFF2-40B4-BE49-F238E27FC236}">
                <a16:creationId xmlns:a16="http://schemas.microsoft.com/office/drawing/2014/main" id="{E5F04D9D-308A-3183-6836-B0EC5388A6D1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7" name="Freeform 38">
              <a:extLst>
                <a:ext uri="{FF2B5EF4-FFF2-40B4-BE49-F238E27FC236}">
                  <a16:creationId xmlns:a16="http://schemas.microsoft.com/office/drawing/2014/main" id="{DD6C4498-CEE7-2D27-F0C3-97EBEC11E86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0" name="TextBox 39">
              <a:extLst>
                <a:ext uri="{FF2B5EF4-FFF2-40B4-BE49-F238E27FC236}">
                  <a16:creationId xmlns:a16="http://schemas.microsoft.com/office/drawing/2014/main" id="{2238B763-36E8-D0F8-087D-09B56E0E974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-29308" y="7436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09800" y="16383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job searching and recruitment processes are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and inefficient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platform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managing job postings and applications. 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seekers face difficulty in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relevant job opportunities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Employers struggle to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large numbers of applications manually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system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application status (Applied, Shortlisted, Rejected). 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between recruiters and candidates is often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or unclear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may lack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filtering and search features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processes increase the chances of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loss and errors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proper system to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recruitment data and performance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3" name="Group 37">
            <a:extLst>
              <a:ext uri="{FF2B5EF4-FFF2-40B4-BE49-F238E27FC236}">
                <a16:creationId xmlns:a16="http://schemas.microsoft.com/office/drawing/2014/main" id="{2FF1B020-E599-4243-0745-94658C4B75D2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4" name="Freeform 38">
              <a:extLst>
                <a:ext uri="{FF2B5EF4-FFF2-40B4-BE49-F238E27FC236}">
                  <a16:creationId xmlns:a16="http://schemas.microsoft.com/office/drawing/2014/main" id="{8D5722D6-1AB3-AFC3-50FD-97E032A64A8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5" name="TextBox 39">
              <a:extLst>
                <a:ext uri="{FF2B5EF4-FFF2-40B4-BE49-F238E27FC236}">
                  <a16:creationId xmlns:a16="http://schemas.microsoft.com/office/drawing/2014/main" id="{8C494B58-803A-A1A0-E7D1-2C6625F9E9EF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37">
            <a:extLst>
              <a:ext uri="{FF2B5EF4-FFF2-40B4-BE49-F238E27FC236}">
                <a16:creationId xmlns:a16="http://schemas.microsoft.com/office/drawing/2014/main" id="{CF58B49F-CF64-89F9-D6CB-EEBCFCA5C762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4" name="Freeform 38">
              <a:extLst>
                <a:ext uri="{FF2B5EF4-FFF2-40B4-BE49-F238E27FC236}">
                  <a16:creationId xmlns:a16="http://schemas.microsoft.com/office/drawing/2014/main" id="{BFE0BB44-45F2-A4A6-9B89-0E8576D6182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5" name="TextBox 39">
              <a:extLst>
                <a:ext uri="{FF2B5EF4-FFF2-40B4-BE49-F238E27FC236}">
                  <a16:creationId xmlns:a16="http://schemas.microsoft.com/office/drawing/2014/main" id="{B7E50780-1EA1-5613-9DE5-1713C4D8E91F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C6502AF-CCC8-31E6-FA60-391BF4CC2DF4}"/>
              </a:ext>
            </a:extLst>
          </p:cNvPr>
          <p:cNvSpPr txBox="1"/>
          <p:nvPr/>
        </p:nvSpPr>
        <p:spPr>
          <a:xfrm>
            <a:off x="2209800" y="1638300"/>
            <a:ext cx="15082325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platform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efficient job management and recruitment.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system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job seekers and employers.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students to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search, apply, and track job applications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allow employers to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post, update, and manage job listings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easily.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 and role-based access control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simplify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tracking process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(Applied, Shortlisted, Rejected).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between job seekers and recruiters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data storage and management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MySQL.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all types of users. 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make the recruitment process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faster, transparent, and reliable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209800" y="1638300"/>
            <a:ext cx="15082325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proposes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Job Portal Management System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automate recruitment.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platform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Students, Employers, and Admin.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register, search jobs, apply online, and track application status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Employers can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jobs, manage listings, and view applicants efficiently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users, jobs, and applications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the system.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and role-based access control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Spring Security.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Boot (backend)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(frontend)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smooth operation.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data securely in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database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JPA/Hibernate.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dashboards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better user experience.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 and improves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speed, accuracy, and transparency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recruitment. </a:t>
            </a:r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25879" y="400481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4F283DDE-1616-62AE-4C34-D40B631B4EC7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3" name="Freeform 38">
              <a:extLst>
                <a:ext uri="{FF2B5EF4-FFF2-40B4-BE49-F238E27FC236}">
                  <a16:creationId xmlns:a16="http://schemas.microsoft.com/office/drawing/2014/main" id="{1277AC33-DE92-DEAD-3684-F9E584FE7CE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" name="TextBox 39">
              <a:extLst>
                <a:ext uri="{FF2B5EF4-FFF2-40B4-BE49-F238E27FC236}">
                  <a16:creationId xmlns:a16="http://schemas.microsoft.com/office/drawing/2014/main" id="{56B25065-0B92-DE42-94C2-2ECB8CBB349C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0" y="486639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209801" y="1638300"/>
            <a:ext cx="5486399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73250">
              <a:lnSpc>
                <a:spcPct val="100000"/>
              </a:lnSpc>
              <a:spcBef>
                <a:spcPts val="100"/>
              </a:spcBef>
            </a:pPr>
            <a:r>
              <a:rPr lang="en-US" sz="2500" b="1" spc="-10" dirty="0">
                <a:cs typeface="Calibri"/>
              </a:rPr>
              <a:t>Input:</a:t>
            </a:r>
            <a:endParaRPr lang="en-US" altLang="en-US" sz="250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(Students, Employers, Admin) interact with the system through web interfaces.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provide data like profile details, resumes, and job applications.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Employers input job details such as title, description, skills, salary, and location.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inputs are sent to the backend through HTTP requests (forms / APIs).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FB6C5D-6710-9A6A-5889-B8755A6107B8}"/>
              </a:ext>
            </a:extLst>
          </p:cNvPr>
          <p:cNvSpPr txBox="1"/>
          <p:nvPr/>
        </p:nvSpPr>
        <p:spPr>
          <a:xfrm>
            <a:off x="7848603" y="1618712"/>
            <a:ext cx="421772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74090">
              <a:lnSpc>
                <a:spcPct val="100000"/>
              </a:lnSpc>
              <a:spcBef>
                <a:spcPts val="100"/>
              </a:spcBef>
            </a:pPr>
            <a:r>
              <a:rPr lang="en-US" sz="2400" b="1" spc="-10" dirty="0">
                <a:latin typeface="Calibri"/>
                <a:cs typeface="Calibri"/>
              </a:rPr>
              <a:t>Database:</a:t>
            </a:r>
            <a:endParaRPr lang="en-US" sz="2400" dirty="0">
              <a:latin typeface="Calibri"/>
              <a:cs typeface="Calibri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stored in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database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tables include: </a:t>
            </a:r>
          </a:p>
          <a:p>
            <a:pPr marL="285750" lvl="1" indent="-28575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(student, employer, admin details) </a:t>
            </a:r>
          </a:p>
          <a:p>
            <a:pPr marL="285750" lvl="1" indent="-28575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jobs (job postings) </a:t>
            </a:r>
          </a:p>
          <a:p>
            <a:pPr marL="285750" lvl="1" indent="-28575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(job applications and status)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Managed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Data JPA (Hibernate ORM)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 storage, relationships, and data consistency.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9B72EBC-C486-4D50-D262-FE5267830EE3}"/>
              </a:ext>
            </a:extLst>
          </p:cNvPr>
          <p:cNvSpPr txBox="1"/>
          <p:nvPr/>
        </p:nvSpPr>
        <p:spPr>
          <a:xfrm>
            <a:off x="2438400" y="6336219"/>
            <a:ext cx="962792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78305">
              <a:lnSpc>
                <a:spcPct val="100000"/>
              </a:lnSpc>
              <a:spcBef>
                <a:spcPts val="100"/>
              </a:spcBef>
            </a:pPr>
            <a:r>
              <a:rPr lang="en-US" sz="2800" b="1" spc="-10" dirty="0">
                <a:latin typeface="Calibri"/>
                <a:cs typeface="Calibri"/>
              </a:rPr>
              <a:t>Output:</a:t>
            </a:r>
            <a:endParaRPr lang="en-US" sz="2800" dirty="0">
              <a:latin typeface="Calibri"/>
              <a:cs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web pages are generated using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templates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get real-time feedback such as: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Job listings and search results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 status (Applied, Shortlisted, Rejected)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Dashboards based on roles (Student / Employer / Admin)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 and updates are reflected instantly on the UI. 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4BD110DE-228A-A5AD-2672-1F79B53A5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8192" y="2407247"/>
            <a:ext cx="5958807" cy="66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581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5FF0B2D0-7843-1835-7081-F69B51BDD5B8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3" name="Freeform 38">
              <a:extLst>
                <a:ext uri="{FF2B5EF4-FFF2-40B4-BE49-F238E27FC236}">
                  <a16:creationId xmlns:a16="http://schemas.microsoft.com/office/drawing/2014/main" id="{1E43E843-CEEF-9B58-BAB6-E0FEFB947A9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" name="TextBox 39">
              <a:extLst>
                <a:ext uri="{FF2B5EF4-FFF2-40B4-BE49-F238E27FC236}">
                  <a16:creationId xmlns:a16="http://schemas.microsoft.com/office/drawing/2014/main" id="{B7A3D907-9F7C-D8D3-DE54-E07FC037F8C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7E86A5E8-D5E0-346C-730E-7953A6511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540" y="1452274"/>
            <a:ext cx="6858000" cy="8153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0C7202-5F90-ADCD-AE31-DC0FFB699C50}"/>
              </a:ext>
            </a:extLst>
          </p:cNvPr>
          <p:cNvSpPr txBox="1"/>
          <p:nvPr/>
        </p:nvSpPr>
        <p:spPr>
          <a:xfrm>
            <a:off x="8458200" y="1694240"/>
            <a:ext cx="8640340" cy="8171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(Student / Employer / Admin) accesses the system through the web interface (browser).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registers or logs in using credentials, which are authenticated using Spring Security.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verifies user role (STUDENT / EMPLOYER / ADMIN) and redirects to the respective dashboard.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browse available jobs and view job details.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apply for jobs by submitting applications and uploading resumes.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Employers post new jobs, update existing jobs, or delete job listings.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Employers view applicants and update application status (SHORTLISTED / REJECTED).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processes all requests in the backend using Spring Boot (Controllers → Services → Repositories).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data (users, jobs, applications) is stored and managed in the MySQL database.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dashboard dynamically displays job listings, application status, and statistics.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Admin monitors system activity, manages users, jobs, and applications.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676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9801" y="1638300"/>
            <a:ext cx="11902207" cy="13018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Frontend: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Structures web pages like login, dashboard, job listings, and forms.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CSS3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styling and responsive design for better user experience.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Handles dynamic interactions like job search, filtering, and validations.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Renders dynamic server-side content in web pages. 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Backend: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Core programming language used for application development.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Boot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Handles REST APIs, business logic, and application flow.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MVC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Manages request handling (Controllers → Services → Repositories).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Security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authentication and role-based authorization.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WebSocket (Optional)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Enables real-time updates (if implemented for notifications). 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Database:</a:t>
            </a:r>
          </a:p>
          <a:p>
            <a:pPr marL="457200" indent="-457200">
              <a:buFontTx/>
              <a:buChar char="-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Stores all system data such as users, jobs, and applications securely.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4D847D41-4470-420F-942D-93587F92804D}"/>
              </a:ext>
            </a:extLst>
          </p:cNvPr>
          <p:cNvGrpSpPr/>
          <p:nvPr/>
        </p:nvGrpSpPr>
        <p:grpSpPr>
          <a:xfrm>
            <a:off x="14401800" y="-2955537"/>
            <a:ext cx="10994424" cy="10994424"/>
            <a:chOff x="0" y="0"/>
            <a:chExt cx="812800" cy="812800"/>
          </a:xfrm>
        </p:grpSpPr>
        <p:sp>
          <p:nvSpPr>
            <p:cNvPr id="3" name="Freeform 38">
              <a:extLst>
                <a:ext uri="{FF2B5EF4-FFF2-40B4-BE49-F238E27FC236}">
                  <a16:creationId xmlns:a16="http://schemas.microsoft.com/office/drawing/2014/main" id="{A4FD480D-1445-2C4B-DB46-82271E5DF7B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" name="TextBox 39">
              <a:extLst>
                <a:ext uri="{FF2B5EF4-FFF2-40B4-BE49-F238E27FC236}">
                  <a16:creationId xmlns:a16="http://schemas.microsoft.com/office/drawing/2014/main" id="{26A1CA4A-B4D1-F4E6-0933-879F4CA7F8F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569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A55FE18-92D1-FCF8-5F83-46AD35077AAD}"/>
              </a:ext>
            </a:extLst>
          </p:cNvPr>
          <p:cNvGrpSpPr/>
          <p:nvPr/>
        </p:nvGrpSpPr>
        <p:grpSpPr>
          <a:xfrm>
            <a:off x="2220988" y="1908245"/>
            <a:ext cx="4547615" cy="2654893"/>
            <a:chOff x="2726817" y="2277237"/>
            <a:chExt cx="4547615" cy="2654893"/>
          </a:xfrm>
        </p:grpSpPr>
        <p:sp>
          <p:nvSpPr>
            <p:cNvPr id="3" name="object 23">
              <a:extLst>
                <a:ext uri="{FF2B5EF4-FFF2-40B4-BE49-F238E27FC236}">
                  <a16:creationId xmlns:a16="http://schemas.microsoft.com/office/drawing/2014/main" id="{0C54E66A-4FCC-79CC-FC43-6930B5EEF50B}"/>
                </a:ext>
              </a:extLst>
            </p:cNvPr>
            <p:cNvSpPr txBox="1"/>
            <p:nvPr/>
          </p:nvSpPr>
          <p:spPr>
            <a:xfrm>
              <a:off x="2786252" y="2277237"/>
              <a:ext cx="4488180" cy="45212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2800" b="1" dirty="0">
                  <a:latin typeface="Calibri"/>
                  <a:cs typeface="Calibri"/>
                </a:rPr>
                <a:t>Module</a:t>
              </a:r>
              <a:r>
                <a:rPr sz="2800" b="1" spc="-90" dirty="0">
                  <a:latin typeface="Calibri"/>
                  <a:cs typeface="Calibri"/>
                </a:rPr>
                <a:t> </a:t>
              </a:r>
              <a:r>
                <a:rPr sz="2800" b="1" dirty="0">
                  <a:latin typeface="Calibri"/>
                  <a:cs typeface="Calibri"/>
                </a:rPr>
                <a:t>1:</a:t>
              </a:r>
              <a:r>
                <a:rPr sz="2800" b="1" spc="-80" dirty="0">
                  <a:latin typeface="Calibri"/>
                  <a:cs typeface="Calibri"/>
                </a:rPr>
                <a:t> </a:t>
              </a:r>
              <a:r>
                <a:rPr lang="en-US" sz="2800" b="1" spc="-10" dirty="0">
                  <a:latin typeface="Calibri"/>
                  <a:cs typeface="Calibri"/>
                </a:rPr>
                <a:t>User</a:t>
              </a:r>
              <a:r>
                <a:rPr sz="2800" b="1" spc="-90" dirty="0">
                  <a:latin typeface="Calibri"/>
                  <a:cs typeface="Calibri"/>
                </a:rPr>
                <a:t> </a:t>
              </a:r>
              <a:r>
                <a:rPr sz="2800" b="1" spc="-10" dirty="0">
                  <a:latin typeface="Calibri"/>
                  <a:cs typeface="Calibri"/>
                </a:rPr>
                <a:t>Management</a:t>
              </a:r>
              <a:endParaRPr sz="2800" dirty="0">
                <a:latin typeface="Calibri"/>
                <a:cs typeface="Calibri"/>
              </a:endParaRPr>
            </a:p>
          </p:txBody>
        </p:sp>
        <p:sp>
          <p:nvSpPr>
            <p:cNvPr id="4" name="object 24">
              <a:extLst>
                <a:ext uri="{FF2B5EF4-FFF2-40B4-BE49-F238E27FC236}">
                  <a16:creationId xmlns:a16="http://schemas.microsoft.com/office/drawing/2014/main" id="{A159FD4D-965A-A6A4-C30C-9C3068B0E3CD}"/>
                </a:ext>
              </a:extLst>
            </p:cNvPr>
            <p:cNvSpPr txBox="1"/>
            <p:nvPr/>
          </p:nvSpPr>
          <p:spPr>
            <a:xfrm>
              <a:off x="2726817" y="2703956"/>
              <a:ext cx="4276090" cy="2228174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§"/>
              </a:pP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Handles user registration and login (Student / Employer / Admin). </a:t>
              </a:r>
            </a:p>
            <a:p>
              <a:pPr marL="342900" indent="-342900">
                <a:buFont typeface="Wingdings" panose="05000000000000000000" pitchFamily="2" charset="2"/>
                <a:buChar char="§"/>
              </a:pP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Manages authentication and role-based access using Spring Security. 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C91C069-699A-0BDF-09AF-C914366A345E}"/>
              </a:ext>
            </a:extLst>
          </p:cNvPr>
          <p:cNvGrpSpPr/>
          <p:nvPr/>
        </p:nvGrpSpPr>
        <p:grpSpPr>
          <a:xfrm>
            <a:off x="7568989" y="1982349"/>
            <a:ext cx="5341874" cy="2314265"/>
            <a:chOff x="8408923" y="2264154"/>
            <a:chExt cx="5341874" cy="2314265"/>
          </a:xfrm>
        </p:grpSpPr>
        <p:sp>
          <p:nvSpPr>
            <p:cNvPr id="6" name="object 26">
              <a:extLst>
                <a:ext uri="{FF2B5EF4-FFF2-40B4-BE49-F238E27FC236}">
                  <a16:creationId xmlns:a16="http://schemas.microsoft.com/office/drawing/2014/main" id="{23084715-EF6D-BC94-ECAE-2088A48D3345}"/>
                </a:ext>
              </a:extLst>
            </p:cNvPr>
            <p:cNvSpPr txBox="1"/>
            <p:nvPr/>
          </p:nvSpPr>
          <p:spPr>
            <a:xfrm>
              <a:off x="8408923" y="2264154"/>
              <a:ext cx="4825365" cy="45212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2800" b="1" dirty="0">
                  <a:latin typeface="Calibri"/>
                  <a:cs typeface="Calibri"/>
                </a:rPr>
                <a:t>Module</a:t>
              </a:r>
              <a:r>
                <a:rPr sz="2800" b="1" spc="-95" dirty="0">
                  <a:latin typeface="Calibri"/>
                  <a:cs typeface="Calibri"/>
                </a:rPr>
                <a:t> </a:t>
              </a:r>
              <a:r>
                <a:rPr sz="2800" b="1" dirty="0">
                  <a:latin typeface="Calibri"/>
                  <a:cs typeface="Calibri"/>
                </a:rPr>
                <a:t>2:</a:t>
              </a:r>
              <a:r>
                <a:rPr sz="2800" b="1" spc="-80" dirty="0">
                  <a:latin typeface="Calibri"/>
                  <a:cs typeface="Calibri"/>
                </a:rPr>
                <a:t> </a:t>
              </a:r>
              <a:r>
                <a:rPr lang="en-US" sz="2800" b="1" spc="-80" dirty="0">
                  <a:latin typeface="Calibri"/>
                  <a:cs typeface="Calibri"/>
                </a:rPr>
                <a:t>Job Management</a:t>
              </a:r>
              <a:endParaRPr sz="2800" dirty="0">
                <a:latin typeface="Calibri"/>
                <a:cs typeface="Calibri"/>
              </a:endParaRPr>
            </a:p>
          </p:txBody>
        </p:sp>
        <p:sp>
          <p:nvSpPr>
            <p:cNvPr id="34" name="object 27">
              <a:extLst>
                <a:ext uri="{FF2B5EF4-FFF2-40B4-BE49-F238E27FC236}">
                  <a16:creationId xmlns:a16="http://schemas.microsoft.com/office/drawing/2014/main" id="{CFD86065-F93F-23C3-30BC-E4DB55EB5496}"/>
                </a:ext>
              </a:extLst>
            </p:cNvPr>
            <p:cNvSpPr txBox="1"/>
            <p:nvPr/>
          </p:nvSpPr>
          <p:spPr>
            <a:xfrm>
              <a:off x="8465057" y="2719577"/>
              <a:ext cx="5285740" cy="1858842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457200" marR="0" lvl="0" indent="-4572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457200" marR="0" lvl="0" indent="-4572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Allows employers to post, update, and delete job listings. </a:t>
              </a:r>
            </a:p>
            <a:p>
              <a:pPr marL="457200" marR="0" lvl="0" indent="-4572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Stores job details like title, description, skills, salary, and location. </a:t>
              </a:r>
            </a:p>
          </p:txBody>
        </p:sp>
      </p:grpSp>
      <p:sp>
        <p:nvSpPr>
          <p:cNvPr id="38" name="object 31">
            <a:extLst>
              <a:ext uri="{FF2B5EF4-FFF2-40B4-BE49-F238E27FC236}">
                <a16:creationId xmlns:a16="http://schemas.microsoft.com/office/drawing/2014/main" id="{2D6B28A7-BDDF-C922-24E0-06A5100AA406}"/>
              </a:ext>
            </a:extLst>
          </p:cNvPr>
          <p:cNvSpPr txBox="1"/>
          <p:nvPr/>
        </p:nvSpPr>
        <p:spPr>
          <a:xfrm>
            <a:off x="2319020" y="5635498"/>
            <a:ext cx="50488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Calibri"/>
                <a:cs typeface="Calibri"/>
              </a:rPr>
              <a:t>Module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3: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Database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Management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9" name="object 32">
            <a:extLst>
              <a:ext uri="{FF2B5EF4-FFF2-40B4-BE49-F238E27FC236}">
                <a16:creationId xmlns:a16="http://schemas.microsoft.com/office/drawing/2014/main" id="{EBC106FD-BAC8-468F-781B-3E799D742322}"/>
              </a:ext>
            </a:extLst>
          </p:cNvPr>
          <p:cNvSpPr txBox="1"/>
          <p:nvPr/>
        </p:nvSpPr>
        <p:spPr>
          <a:xfrm>
            <a:off x="2319020" y="6062217"/>
            <a:ext cx="4852035" cy="18588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Stores all data (users, jobs, applications) in MySQL database.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efficient data retrieval for dashboards and operations. </a:t>
            </a:r>
          </a:p>
        </p:txBody>
      </p:sp>
      <p:sp>
        <p:nvSpPr>
          <p:cNvPr id="41" name="object 34">
            <a:extLst>
              <a:ext uri="{FF2B5EF4-FFF2-40B4-BE49-F238E27FC236}">
                <a16:creationId xmlns:a16="http://schemas.microsoft.com/office/drawing/2014/main" id="{1F2229C8-1FD2-1870-00CB-5A7681AC63B5}"/>
              </a:ext>
            </a:extLst>
          </p:cNvPr>
          <p:cNvSpPr txBox="1"/>
          <p:nvPr/>
        </p:nvSpPr>
        <p:spPr>
          <a:xfrm>
            <a:off x="8004176" y="5764729"/>
            <a:ext cx="531495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Calibri"/>
                <a:cs typeface="Calibri"/>
              </a:rPr>
              <a:t>Module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4: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lang="en-US" sz="2800" b="1" spc="-10" dirty="0">
                <a:latin typeface="Calibri"/>
                <a:cs typeface="Calibri"/>
              </a:rPr>
              <a:t>Application Management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2" name="object 35">
            <a:extLst>
              <a:ext uri="{FF2B5EF4-FFF2-40B4-BE49-F238E27FC236}">
                <a16:creationId xmlns:a16="http://schemas.microsoft.com/office/drawing/2014/main" id="{E20A3EC3-6563-F956-5731-1007830540AC}"/>
              </a:ext>
            </a:extLst>
          </p:cNvPr>
          <p:cNvSpPr txBox="1"/>
          <p:nvPr/>
        </p:nvSpPr>
        <p:spPr>
          <a:xfrm>
            <a:off x="7998628" y="6515890"/>
            <a:ext cx="5153660" cy="1489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students to apply for jobs and upload resumes.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application status (APPLIED, SHORTLISTED, REJECTED).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53F1C8F-771E-1FDA-AFF8-A9BBC9C8E370}"/>
              </a:ext>
            </a:extLst>
          </p:cNvPr>
          <p:cNvSpPr txBox="1"/>
          <p:nvPr/>
        </p:nvSpPr>
        <p:spPr>
          <a:xfrm>
            <a:off x="12966997" y="2254251"/>
            <a:ext cx="409123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0504" marR="201295" indent="185420" algn="just">
              <a:lnSpc>
                <a:spcPct val="100000"/>
              </a:lnSpc>
              <a:spcBef>
                <a:spcPts val="95"/>
              </a:spcBef>
            </a:pPr>
            <a:r>
              <a:rPr lang="en-US" sz="2400" b="1" dirty="0">
                <a:latin typeface="Calibri"/>
                <a:cs typeface="Calibri"/>
              </a:rPr>
              <a:t>Module</a:t>
            </a:r>
            <a:r>
              <a:rPr lang="en-US" sz="2400" b="1" spc="-120" dirty="0">
                <a:latin typeface="Calibri"/>
                <a:cs typeface="Calibri"/>
              </a:rPr>
              <a:t> </a:t>
            </a:r>
            <a:r>
              <a:rPr lang="en-US" sz="2400" b="1" spc="-25" dirty="0">
                <a:latin typeface="Calibri"/>
                <a:cs typeface="Calibri"/>
              </a:rPr>
              <a:t>5: </a:t>
            </a:r>
            <a:r>
              <a:rPr lang="en-US" sz="2400" b="1" spc="-10" dirty="0">
                <a:latin typeface="Calibri"/>
                <a:cs typeface="Calibri"/>
              </a:rPr>
              <a:t>Dashboard Visualization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Displays job listings, application status, and statistics.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role-based dashboards for Student, Employer, and Admin.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538B72-7A35-E3BC-C4A0-9403BE182E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8384" y="1516826"/>
            <a:ext cx="12199845" cy="59187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321AE00-DD95-3F85-AE35-F51958F2FF81}"/>
              </a:ext>
            </a:extLst>
          </p:cNvPr>
          <p:cNvSpPr txBox="1"/>
          <p:nvPr/>
        </p:nvSpPr>
        <p:spPr>
          <a:xfrm>
            <a:off x="2649425" y="7619086"/>
            <a:ext cx="15442619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90575">
              <a:lnSpc>
                <a:spcPct val="100000"/>
              </a:lnSpc>
              <a:spcBef>
                <a:spcPts val="1775"/>
              </a:spcBef>
            </a:pPr>
            <a:r>
              <a:rPr lang="en-US" sz="2500" b="1" dirty="0">
                <a:latin typeface="Calibri"/>
                <a:cs typeface="Calibri"/>
              </a:rPr>
              <a:t>Home</a:t>
            </a:r>
            <a:r>
              <a:rPr lang="en-US" sz="2500" b="1" spc="-85" dirty="0">
                <a:latin typeface="Calibri"/>
                <a:cs typeface="Calibri"/>
              </a:rPr>
              <a:t> </a:t>
            </a:r>
            <a:r>
              <a:rPr lang="en-US" sz="2500" b="1" dirty="0">
                <a:latin typeface="Calibri"/>
                <a:cs typeface="Calibri"/>
              </a:rPr>
              <a:t>Page</a:t>
            </a:r>
            <a:r>
              <a:rPr lang="en-US" sz="2500" b="1" spc="-50" dirty="0">
                <a:latin typeface="Calibri"/>
                <a:cs typeface="Calibri"/>
              </a:rPr>
              <a:t> </a:t>
            </a:r>
            <a:r>
              <a:rPr lang="en-US" sz="2500" b="1" dirty="0">
                <a:latin typeface="Calibri"/>
                <a:cs typeface="Calibri"/>
              </a:rPr>
              <a:t>–</a:t>
            </a:r>
            <a:r>
              <a:rPr lang="en-US" sz="2500" b="1" spc="-70" dirty="0">
                <a:latin typeface="Calibri"/>
                <a:cs typeface="Calibri"/>
              </a:rPr>
              <a:t> </a:t>
            </a:r>
            <a:r>
              <a:rPr lang="en-US" sz="2500" b="1" spc="-10" dirty="0">
                <a:latin typeface="Calibri"/>
                <a:cs typeface="Calibri"/>
              </a:rPr>
              <a:t>Dashboard</a:t>
            </a:r>
            <a:endParaRPr lang="en-US" sz="2500" dirty="0">
              <a:latin typeface="Calibri"/>
              <a:cs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home page acts as the main interface of the Job Portal system.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Displays all important information in a centralized dashboard.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Shows job listings, application status, and user-specific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role-based views for Students, Employers, and Admin. . </a:t>
            </a:r>
          </a:p>
        </p:txBody>
      </p:sp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477034-42FB-F61E-3D2F-04E0A9B7213F}"/>
              </a:ext>
            </a:extLst>
          </p:cNvPr>
          <p:cNvSpPr txBox="1"/>
          <p:nvPr/>
        </p:nvSpPr>
        <p:spPr>
          <a:xfrm>
            <a:off x="2342373" y="7038921"/>
            <a:ext cx="1462131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235"/>
              </a:spcBef>
            </a:pPr>
            <a:endParaRPr lang="en-US" sz="2400" dirty="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lang="en-US" sz="2400" b="1" spc="-10" dirty="0">
                <a:latin typeface="Calibri"/>
                <a:cs typeface="Calibri"/>
              </a:rPr>
              <a:t>Dashboard</a:t>
            </a:r>
            <a:r>
              <a:rPr lang="en-US" sz="2400" b="1" spc="-75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/</a:t>
            </a:r>
            <a:r>
              <a:rPr lang="en-US" sz="2400" b="1" spc="-75" dirty="0">
                <a:latin typeface="Calibri"/>
                <a:cs typeface="Calibri"/>
              </a:rPr>
              <a:t> </a:t>
            </a:r>
            <a:r>
              <a:rPr lang="en-US" sz="2400" b="1" spc="-10" dirty="0">
                <a:latin typeface="Calibri"/>
                <a:cs typeface="Calibri"/>
              </a:rPr>
              <a:t>System</a:t>
            </a:r>
            <a:r>
              <a:rPr lang="en-US" sz="2400" b="1" spc="-75" dirty="0">
                <a:latin typeface="Calibri"/>
                <a:cs typeface="Calibri"/>
              </a:rPr>
              <a:t> </a:t>
            </a:r>
            <a:r>
              <a:rPr lang="en-US" sz="2400" b="1" spc="-10" dirty="0">
                <a:latin typeface="Calibri"/>
                <a:cs typeface="Calibri"/>
              </a:rPr>
              <a:t>Monitoring</a:t>
            </a:r>
            <a:endParaRPr lang="en-US" sz="2400" dirty="0">
              <a:latin typeface="Calibri"/>
              <a:cs typeface="Calibri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multiple sections such as job listings, applications, and user activities.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real-time updates of job postings and application status.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 dynamically based on user actions (no need for manual refresh).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different views for Students, Employers, and Admin.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users efficiently track jobs, applications, and overall system activity.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F9D9A5-B916-27B0-3E8B-571D4FF7D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8778" y="1739348"/>
            <a:ext cx="11350313" cy="5299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6306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64133" y="1600443"/>
            <a:ext cx="52578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Admin Login Page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669F5E-D683-06DA-6F1A-B1A71266369B}"/>
              </a:ext>
            </a:extLst>
          </p:cNvPr>
          <p:cNvSpPr txBox="1"/>
          <p:nvPr/>
        </p:nvSpPr>
        <p:spPr>
          <a:xfrm>
            <a:off x="11441822" y="1697977"/>
            <a:ext cx="52578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User Login Page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E692DFD-6E98-89D6-2A9C-89F636006C8F}"/>
              </a:ext>
            </a:extLst>
          </p:cNvPr>
          <p:cNvCxnSpPr/>
          <p:nvPr/>
        </p:nvCxnSpPr>
        <p:spPr>
          <a:xfrm>
            <a:off x="9448800" y="1697977"/>
            <a:ext cx="0" cy="74841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03F2A51-3788-6AD8-51AF-945F803567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056" y="3633295"/>
            <a:ext cx="7314484" cy="341520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BBC2794-8C34-DF1B-145E-DB96D367AD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0952" y="3633295"/>
            <a:ext cx="8001000" cy="377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577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12AA64-FE9C-94E7-803D-BDA970B03C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9110" y="1599853"/>
            <a:ext cx="12892468" cy="61941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064960-29FB-36CC-448D-ECB581D69434}"/>
              </a:ext>
            </a:extLst>
          </p:cNvPr>
          <p:cNvSpPr txBox="1"/>
          <p:nvPr/>
        </p:nvSpPr>
        <p:spPr>
          <a:xfrm>
            <a:off x="2646778" y="8652532"/>
            <a:ext cx="14208368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receive notifications for important updates (e.g., shortlisted or rejected).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students track progress and employers manage applicants efficiently.</a:t>
            </a:r>
          </a:p>
          <a:p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ADB03-5949-76CF-730D-FE5AC6B02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0341F564-4633-428C-1F61-C503FD5273F1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1FA13A8-928A-9F16-48B2-4EDC4C148B0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23C684A6-1477-B610-0A9F-CDE5A866C9C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6BFD91F5-CD9A-E8BA-7FF7-B828C51DBDAA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1D3B593-5A0E-46DF-756F-9A6B7242137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C946D6BE-BC77-E9AB-16E6-CEAE4EC0386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9330135-71E2-ADA0-7F41-06E42DB5D58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BFA87DBC-CC89-B390-A600-F2BCC5965AD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ECA32750-0933-E1A1-02FD-38092240BB6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6C689BC3-874A-43DE-7ADA-76D7D45F17BE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3AAAE51B-4974-D365-CB1C-3417B949CB4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9D04FC35-9F18-F798-684B-6BBE67C4701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5670C5D5-4C3F-1D22-E9E5-0681D9C0FF3F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CDB16E9D-BC44-D564-5FDF-928384F97CD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CB15F0F5-9239-83CF-3B8C-609163E6FF0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0567A03-29B2-4F9E-E631-36FE41FB4BC1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3A0904EA-F016-AFDC-A93E-B4FBF8DF5EC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1D2E5C0B-6A56-6C5E-3BFF-5914EABDA1A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C49E1BF9-01E4-4D78-0B81-1515246F3BDF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7A615322-55A4-6B71-EFFE-393EDD590EA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89A62FE6-6F7A-31CB-33FC-4089D50C8E8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9E5E3F7C-D94E-AEED-EB88-5EF146652DE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F97EDCC-00E9-DB52-74AC-0D01F0EF633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487E87BA-4DFA-76C8-6EE6-6878BA06A52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2C2200B9-01A2-94A2-1F5B-1D6A25073A7A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3926722E-12F6-5180-2638-ACFB885B5AA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EC42E6E-8AD6-04E2-8BD4-7FBD7CBDD24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72E90A24-DC79-6DE6-2922-BC4E3DF1ABCE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36050E7B-D09F-A7E8-04A5-30F04395C26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BA8DA712-CF93-8857-BCB8-2E1D0BE7153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1063915-37FA-F966-5F01-81884DC752A6}"/>
              </a:ext>
            </a:extLst>
          </p:cNvPr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42051EF-BCD0-491C-2351-0C381CC1977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B95FA0-B773-DDC0-6809-EA900C3C46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0141" y="1507907"/>
            <a:ext cx="13069510" cy="6115904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456ED8BD-0DD7-CA1A-94B2-5CB937A2AC2F}"/>
              </a:ext>
            </a:extLst>
          </p:cNvPr>
          <p:cNvSpPr txBox="1"/>
          <p:nvPr/>
        </p:nvSpPr>
        <p:spPr>
          <a:xfrm>
            <a:off x="2550141" y="8150601"/>
            <a:ext cx="1420836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700" b="1" dirty="0"/>
              <a:t>Application Monitoring &amp; Notifications</a:t>
            </a:r>
          </a:p>
          <a:p>
            <a:endParaRPr lang="en-US" sz="27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recent job applications with their current status.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is clearly indicated (APPLIED, SHORTLISTED, REJECTED). .</a:t>
            </a:r>
          </a:p>
        </p:txBody>
      </p:sp>
    </p:spTree>
    <p:extLst>
      <p:ext uri="{BB962C8B-B14F-4D97-AF65-F5344CB8AC3E}">
        <p14:creationId xmlns:p14="http://schemas.microsoft.com/office/powerpoint/2010/main" val="2115207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31A08-FC7E-E512-85E3-5A8DF3EBA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0BB2DCE9-09B2-3827-0C54-7250AFB7359C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2DCF036-D101-249B-C54F-D58E4E597AB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D1170D6-06BB-DFFF-2477-50FD484405A4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3785E3DA-43D7-6E2B-749D-244B47A44AF5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1087445-13BC-A3C2-4EAB-172A2DFF827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D6BC875-4EF7-1E48-E27F-CD2CB9084C9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9A246BAE-7768-85A5-769E-DD4E0EC948CC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D5386C6-D378-1F86-3A74-665CAF7093C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388E6EA-CC2C-1138-B38D-334C1FAC676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4FAEF74E-26CF-34A1-C455-EACB215CD50D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8D273E81-3F09-3E12-65AB-91ACBC666CE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50AFF68D-04DA-05F5-EEFC-F8696BEA8B6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1E02272-B02D-8927-8DE9-30A71B1B5C03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D15D95B6-3A29-FC02-EB48-9FEF5DF2BE2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7EE3B5F9-3E74-DB4B-8449-14B55FBC13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379B76B1-565E-D6B4-A58D-F5B455AB933C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802AF821-05F9-F6C8-352E-991A3B7F530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17ECA61-F265-684D-5BC5-25BD519341D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249936D-46DB-340A-ADF8-78F415479855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A2C15C50-2FF6-0A35-9919-1804313CC7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23C08F9B-98FC-EAA8-F170-9DFC72F1E2D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6B638819-E938-92E6-85E3-83DB4781E6A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8A0F2E00-1F56-DA43-BC39-CF1D23BBE2D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2574F49-B0CA-ABD8-06B6-8B63313AC83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59DF8B14-A995-2A5D-D49A-5FEB6109B7AC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E9DDC544-CFB7-FF35-C651-90DB255994C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5519A7CF-36B0-E5DF-CA4C-E3305A017B1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9A1EE6FB-E3CE-2D3B-EEF8-29E237D90D77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D029D1-9105-EAFF-D51D-80FFB3E7888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A37FCF64-A25F-B7B1-3231-F0ED02AB601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825A7B4E-B6B6-4A34-72D3-B680576DECA5}"/>
              </a:ext>
            </a:extLst>
          </p:cNvPr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6598B5-E12E-2312-2D11-26F42AEFD3F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861DB1-BA16-BDCC-7D96-EED17C37D9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3133" y="1718033"/>
            <a:ext cx="10845334" cy="56182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3FAB85-7592-5306-A364-E378A5FE23D7}"/>
              </a:ext>
            </a:extLst>
          </p:cNvPr>
          <p:cNvSpPr txBox="1"/>
          <p:nvPr/>
        </p:nvSpPr>
        <p:spPr>
          <a:xfrm>
            <a:off x="3083757" y="7780355"/>
            <a:ext cx="14208368" cy="1933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>
              <a:latin typeface="Calibri"/>
              <a:cs typeface="Calibri"/>
            </a:endParaRPr>
          </a:p>
          <a:p>
            <a:pPr marL="12700" marR="5080" indent="254635">
              <a:lnSpc>
                <a:spcPts val="2140"/>
              </a:lnSpc>
              <a:spcBef>
                <a:spcPts val="110"/>
              </a:spcBef>
              <a:buFont typeface="Segoe UI Symbol"/>
              <a:buChar char="❖"/>
              <a:tabLst>
                <a:tab pos="267335" algn="l"/>
              </a:tabLst>
            </a:pPr>
            <a:r>
              <a:rPr lang="en-US" sz="2400" dirty="0">
                <a:latin typeface="Calibri"/>
                <a:cs typeface="Calibri"/>
              </a:rPr>
              <a:t>Users</a:t>
            </a:r>
            <a:r>
              <a:rPr lang="en-US" sz="2400" spc="-5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enter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their</a:t>
            </a:r>
            <a:r>
              <a:rPr lang="en-US" sz="2400" spc="-3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registered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email/username</a:t>
            </a:r>
            <a:r>
              <a:rPr lang="en-US" sz="2400" spc="-3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and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password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to</a:t>
            </a:r>
            <a:r>
              <a:rPr lang="en-US" sz="2400" spc="-4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access</a:t>
            </a:r>
            <a:r>
              <a:rPr lang="en-US" sz="2400" spc="-35" dirty="0">
                <a:latin typeface="Calibri"/>
                <a:cs typeface="Calibri"/>
              </a:rPr>
              <a:t> </a:t>
            </a:r>
            <a:r>
              <a:rPr lang="en-US" sz="2400" spc="-25" dirty="0">
                <a:latin typeface="Calibri"/>
                <a:cs typeface="Calibri"/>
              </a:rPr>
              <a:t>the </a:t>
            </a:r>
            <a:r>
              <a:rPr lang="en-US" sz="2400" spc="-10" dirty="0">
                <a:latin typeface="Calibri"/>
                <a:cs typeface="Calibri"/>
              </a:rPr>
              <a:t>system.</a:t>
            </a:r>
          </a:p>
          <a:p>
            <a:pPr marL="12700" marR="5080" indent="254635">
              <a:lnSpc>
                <a:spcPts val="2140"/>
              </a:lnSpc>
              <a:spcBef>
                <a:spcPts val="110"/>
              </a:spcBef>
              <a:buFont typeface="Segoe UI Symbol"/>
              <a:buChar char="❖"/>
              <a:tabLst>
                <a:tab pos="267335" algn="l"/>
              </a:tabLst>
            </a:pPr>
            <a:endParaRPr lang="en-US" sz="2400" dirty="0">
              <a:latin typeface="Calibri"/>
              <a:cs typeface="Calibri"/>
            </a:endParaRPr>
          </a:p>
          <a:p>
            <a:pPr marL="267335" indent="-254635">
              <a:lnSpc>
                <a:spcPts val="2110"/>
              </a:lnSpc>
              <a:buFont typeface="Segoe UI Symbol"/>
              <a:buChar char="❖"/>
              <a:tabLst>
                <a:tab pos="267335" algn="l"/>
              </a:tabLst>
            </a:pPr>
            <a:r>
              <a:rPr lang="en-US" sz="2400" dirty="0">
                <a:latin typeface="Calibri"/>
                <a:cs typeface="Calibri"/>
              </a:rPr>
              <a:t>The</a:t>
            </a:r>
            <a:r>
              <a:rPr lang="en-US" sz="2400" spc="-5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system</a:t>
            </a:r>
            <a:r>
              <a:rPr lang="en-US" sz="2400" spc="-6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verifies</a:t>
            </a:r>
            <a:r>
              <a:rPr lang="en-US" sz="2400" spc="-5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credentials</a:t>
            </a:r>
            <a:r>
              <a:rPr lang="en-US" sz="2400" spc="-4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with</a:t>
            </a:r>
            <a:r>
              <a:rPr lang="en-US" sz="2400" spc="-4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database</a:t>
            </a:r>
            <a:r>
              <a:rPr lang="en-US" sz="2400" spc="-5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records.</a:t>
            </a:r>
          </a:p>
          <a:p>
            <a:pPr marL="267335" indent="-254635">
              <a:lnSpc>
                <a:spcPts val="2110"/>
              </a:lnSpc>
              <a:buFont typeface="Segoe UI Symbol"/>
              <a:buChar char="❖"/>
              <a:tabLst>
                <a:tab pos="267335" algn="l"/>
              </a:tabLst>
            </a:pPr>
            <a:endParaRPr lang="en-US" sz="2400" dirty="0">
              <a:latin typeface="Calibri"/>
              <a:cs typeface="Calibri"/>
            </a:endParaRPr>
          </a:p>
          <a:p>
            <a:pPr marL="267335" indent="-254635">
              <a:lnSpc>
                <a:spcPct val="100000"/>
              </a:lnSpc>
              <a:buFont typeface="Segoe UI Symbol"/>
              <a:buChar char="❖"/>
              <a:tabLst>
                <a:tab pos="267335" algn="l"/>
              </a:tabLst>
            </a:pPr>
            <a:r>
              <a:rPr lang="en-US" sz="2400" dirty="0">
                <a:latin typeface="Calibri"/>
                <a:cs typeface="Calibri"/>
              </a:rPr>
              <a:t>If</a:t>
            </a:r>
            <a:r>
              <a:rPr lang="en-US" sz="2400" spc="-4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credentials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are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correct,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user</a:t>
            </a:r>
            <a:r>
              <a:rPr lang="en-US" sz="2400" spc="-3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is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granted</a:t>
            </a:r>
            <a:r>
              <a:rPr lang="en-US" sz="2400" spc="-3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access</a:t>
            </a:r>
            <a:r>
              <a:rPr lang="en-US" sz="2400" spc="-3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to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dashboard.</a:t>
            </a:r>
            <a:endParaRPr lang="en-US"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009877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4F2BA-FD67-88B5-D00A-FB42DF0E4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E523E47-FF12-EB4F-CE4E-15E2BD90E35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0BF7AEA-D128-304C-183A-EB3077D12DC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E5B44C9-58D3-B109-89D1-E8FFD2315F0E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74E56993-8907-140B-5665-32E2F0E72519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11C3DB8-7383-8D70-BB09-1A750F2C0F8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C6851A8C-42BC-3992-679E-AF3EB93D8C8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7FC4CA35-A97E-BE99-FA00-97839403BA62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06C0D29F-FB0D-BB96-D4AE-A8C22A8CB3E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DFDBF821-9269-FB5A-0458-881A0E029C5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4DA79A4-C081-806C-6C3A-C91A9D054D41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5FDCDD9-077E-974D-5AC5-094EB0F0F9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0BD027CC-442F-A18F-1E78-2F68E60EBF6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D8743EF0-28DB-F432-0FD1-1CA6C5202E92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836A8DF1-B551-FE2A-F144-BEB434B06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561A89A0-58F9-057C-6EDE-74C4F5446F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AF53D3D6-9FBD-55E1-7943-DBF89C0B7FD9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7FF8775B-97DF-7420-5EFD-8EB72B3097B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6E0800F5-9605-6E15-B0D5-CC1C1DEF93A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56835700-6327-3DF6-F246-625A9BB811E4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C045791B-6506-76B9-2340-8EB2633D35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88D1A950-C54D-5AC4-4D6C-4E7E3BDFD21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976B9CD8-6827-A492-006D-876430D4A63E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DE122907-AE55-D4AB-0A97-62A51C31AE4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1A2A6DCC-7E15-52F6-783E-563DE4EDE04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1B6F1BAB-47A0-DD22-93AF-14EAB24A610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D7F4897-BA88-6C0E-DA58-A9E65DADA3C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567B0E0F-78E1-D4C5-BB5E-6866A52ABF0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DA9535A-AF12-0C77-A819-68E316B95B01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B3566A7-7E62-ED9D-5F2B-3D6E594172E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966596B-4DE4-21F6-F8EB-0B1F9C6C8A90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D65E6BB-7A3E-1F80-BE43-504A3408DC11}"/>
              </a:ext>
            </a:extLst>
          </p:cNvPr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4CC6DFF-6FEB-8F4B-CAF5-E76C7611A2E6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19E842-C994-44E3-E5D9-152B4BE015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6583" y="1580000"/>
            <a:ext cx="8820754" cy="7723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8510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6122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D1BC55-27BB-4740-B60D-9796F2DE488C}"/>
              </a:ext>
            </a:extLst>
          </p:cNvPr>
          <p:cNvSpPr txBox="1"/>
          <p:nvPr/>
        </p:nvSpPr>
        <p:spPr>
          <a:xfrm>
            <a:off x="2468986" y="1795951"/>
            <a:ext cx="7910878" cy="7571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99030">
              <a:lnSpc>
                <a:spcPct val="100000"/>
              </a:lnSpc>
              <a:spcBef>
                <a:spcPts val="1780"/>
              </a:spcBef>
            </a:pPr>
            <a:r>
              <a:rPr lang="en-US" sz="2700" b="1" spc="-10" dirty="0"/>
              <a:t>Advantages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700" b="0" dirty="0">
              <a:latin typeface="Arial" panose="020B0604020202020204" pitchFamily="34" charset="0"/>
            </a:endParaRPr>
          </a:p>
          <a:p>
            <a:pPr marL="342900" lvl="0" indent="-342900" algn="l" rt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</a:t>
            </a:r>
            <a:r>
              <a:rPr lang="en-US" alt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platform</a:t>
            </a:r>
            <a:r>
              <a:rPr lang="en-US" altLang="en-US" sz="2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job searching and recruitment. </a:t>
            </a:r>
          </a:p>
          <a:p>
            <a:pPr marL="342900" lvl="0" indent="-342900" algn="l" rt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lang="en-US" alt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job posting and management</a:t>
            </a:r>
            <a:r>
              <a:rPr lang="en-US" altLang="en-US" sz="2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employers. </a:t>
            </a:r>
          </a:p>
          <a:p>
            <a:pPr marL="342900" lvl="0" indent="-342900" algn="l" rt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students to </a:t>
            </a:r>
            <a:r>
              <a:rPr lang="en-US" alt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for jobs and track application status</a:t>
            </a:r>
            <a:r>
              <a:rPr lang="en-US" altLang="en-US" sz="2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efficiently. </a:t>
            </a:r>
          </a:p>
          <a:p>
            <a:pPr marL="342900" lvl="0" indent="-342900" algn="l" rt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</a:t>
            </a:r>
            <a:r>
              <a:rPr lang="en-US" alt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 and role-based access control</a:t>
            </a:r>
            <a:r>
              <a:rPr lang="en-US" altLang="en-US" sz="2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l" rt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</a:t>
            </a:r>
            <a:r>
              <a:rPr lang="en-US" alt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dashboards</a:t>
            </a:r>
            <a:r>
              <a:rPr lang="en-US" altLang="en-US" sz="2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Students, Employers, and Admin. </a:t>
            </a:r>
          </a:p>
          <a:p>
            <a:pPr marL="342900" lvl="0" indent="-342900" algn="l" rt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</a:t>
            </a:r>
            <a:r>
              <a:rPr lang="en-US" alt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between job seekers and recruiters</a:t>
            </a:r>
            <a:r>
              <a:rPr lang="en-US" altLang="en-US" sz="2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l" rt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</a:t>
            </a:r>
            <a:r>
              <a:rPr lang="en-US" alt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data management</a:t>
            </a:r>
            <a:r>
              <a:rPr lang="en-US" altLang="en-US" sz="2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MySQL and JPA. </a:t>
            </a:r>
          </a:p>
          <a:p>
            <a:pPr marL="342900" lvl="0" indent="-342900" algn="l" rt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time and enhances the </a:t>
            </a:r>
            <a:r>
              <a:rPr lang="en-US" alt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recruitment process</a:t>
            </a:r>
            <a:r>
              <a:rPr lang="en-US" altLang="en-US" sz="2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2457E1-B255-0087-021A-32EE8A24668D}"/>
              </a:ext>
            </a:extLst>
          </p:cNvPr>
          <p:cNvSpPr txBox="1"/>
          <p:nvPr/>
        </p:nvSpPr>
        <p:spPr>
          <a:xfrm>
            <a:off x="10642400" y="2908608"/>
            <a:ext cx="6816969" cy="6140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10080">
              <a:lnSpc>
                <a:spcPct val="100000"/>
              </a:lnSpc>
              <a:spcBef>
                <a:spcPts val="1780"/>
              </a:spcBef>
            </a:pPr>
            <a:r>
              <a:rPr lang="en-US" sz="2700" b="1" spc="-10" dirty="0"/>
              <a:t>Limitations</a:t>
            </a:r>
          </a:p>
          <a:p>
            <a:pPr marL="1910080">
              <a:lnSpc>
                <a:spcPct val="100000"/>
              </a:lnSpc>
              <a:spcBef>
                <a:spcPts val="1780"/>
              </a:spcBef>
            </a:pPr>
            <a:endParaRPr lang="en-US" sz="2700" b="1" spc="-1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version has limited advanced security features (can be enhanced further).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performance depends on internet connectivity.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advanced search and filtering options for jobs.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notifications (if WebSocket/email not implemented).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analytics and reporting features for users and admin.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may be restricted for very large user traffic without optimization. 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1689</Words>
  <Application>Microsoft Office PowerPoint</Application>
  <PresentationFormat>Custom</PresentationFormat>
  <Paragraphs>425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Cambria</vt:lpstr>
      <vt:lpstr>Gotham</vt:lpstr>
      <vt:lpstr>Segoe UI Symbol</vt:lpstr>
      <vt:lpstr>Wingdings</vt:lpstr>
      <vt:lpstr>Bookman Old Style</vt:lpstr>
      <vt:lpstr>Gotham Bold Italics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Mohammed Ghouse</dc:creator>
  <cp:lastModifiedBy>Mohamed Ghouse Zuhair A</cp:lastModifiedBy>
  <cp:revision>15</cp:revision>
  <dcterms:created xsi:type="dcterms:W3CDTF">2006-08-16T00:00:00Z</dcterms:created>
  <dcterms:modified xsi:type="dcterms:W3CDTF">2026-05-05T19:03:11Z</dcterms:modified>
  <dc:identifier>DAHCaYqJ9OU</dc:identifier>
</cp:coreProperties>
</file>